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3864"/>
                </a:solidFill>
                <a:latin typeface="Microsoft YaHei"/>
              </a:rPr>
              <a:t>mem-manager · Step 2</a:t>
            </a:r>
          </a:p>
          <a:p>
            <a:pPr algn="ctr"/>
            <a:r>
              <a:rPr sz="2800" b="0">
                <a:solidFill>
                  <a:srgbClr val="1F3864"/>
                </a:solidFill>
                <a:latin typeface="Microsoft YaHei"/>
              </a:rPr>
              <a:t>共享内存池分配器 — 设计评审</a:t>
            </a:r>
          </a:p>
          <a:p>
            <a:pPr algn="ctr"/>
            <a:r>
              <a:rPr sz="1800" b="0">
                <a:solidFill>
                  <a:srgbClr val="555555"/>
                </a:solidFill>
                <a:latin typeface="Microsoft YaHei"/>
              </a:rPr>
              <a:t>① Profiling（已完成） → ② 内存池（本次评审） → ③ 收口·禁用原生接口</a:t>
            </a:r>
          </a:p>
          <a:p>
            <a:pPr algn="ctr"/>
            <a:r>
              <a:rPr sz="1500" b="0">
                <a:solidFill>
                  <a:srgbClr val="555555"/>
                </a:solidFill>
                <a:latin typeface="Microsoft YaHei"/>
              </a:rPr>
              <a:t>实测：真实需求 ~1.3GB vs OS 占用 ~28.8GB（浪费 ~95%）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  <a:latin typeface="Microsoft YaHei"/>
              </a:rPr>
              <a:t>1 · 演进路线：Profiling → 内存池 → 收口（禁用原生接口）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52144"/>
            <a:ext cx="11247120" cy="25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200400" cy="3200400"/>
          </a:xfrm>
          <a:prstGeom prst="roundRect">
            <a:avLst/>
          </a:prstGeom>
          <a:solidFill>
            <a:srgbClr val="E9F1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73152"/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</a:rPr>
              <a:t>① Profiling（已完成）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Platform_Shm* 透传 OS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+ Debug 宏采集分配画像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(MEM_MANAGER_PROFILE)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Release：纯透传、零开销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产出：95% 浪费、16–256K 小块、99% VA-same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971800"/>
            <a:ext cx="777240" cy="384048"/>
          </a:xfrm>
          <a:prstGeom prst="rightArrow">
            <a:avLst/>
          </a:prstGeom>
          <a:solidFill>
            <a:srgbClr val="B7C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2587752"/>
            <a:ext cx="1143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  <a:latin typeface="Microsoft YaHei"/>
              </a:rPr>
              <a:t>实测数据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200400" cy="3200400"/>
          </a:xfrm>
          <a:prstGeom prst="roundRect">
            <a:avLst/>
          </a:prstGeom>
          <a:solidFill>
            <a:srgbClr val="E7F4EA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73152"/>
          <a:lstStyle/>
          <a:p>
            <a:pPr algn="ctr"/>
            <a:r>
              <a:rPr sz="1500" b="1">
                <a:solidFill>
                  <a:srgbClr val="1F3864"/>
                </a:solidFill>
                <a:latin typeface="Microsoft YaHei"/>
              </a:rPr>
              <a:t>② 内存池（本次评审）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启动向 OS 申请大块共享内存做「池」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小块进池切分、大块透传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pool_size 可配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enable 一键回滚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35240" y="2971800"/>
            <a:ext cx="777240" cy="384048"/>
          </a:xfrm>
          <a:prstGeom prst="rightArrow">
            <a:avLst/>
          </a:prstGeom>
          <a:solidFill>
            <a:srgbClr val="B7C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587752"/>
            <a:ext cx="1143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55555"/>
                </a:solidFill>
                <a:latin typeface="Microsoft YaHei"/>
              </a:rPr>
              <a:t>业务全量替换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554480"/>
            <a:ext cx="3200400" cy="3200400"/>
          </a:xfrm>
          <a:prstGeom prst="roundRect">
            <a:avLst/>
          </a:prstGeom>
          <a:solidFill>
            <a:srgbClr val="FBECEA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73152"/>
          <a:lstStyle/>
          <a:p>
            <a:pPr algn="ctr"/>
            <a:r>
              <a:rPr sz="1500" b="1">
                <a:solidFill>
                  <a:srgbClr val="C0392B"/>
                </a:solidFill>
                <a:latin typeface="Microsoft YaHei"/>
              </a:rPr>
              <a:t>③ 收口·禁用原生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业务全部改用 Platform_*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门面头 #pragma GCC poison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 禁 ShmMap/_OnPg/_Unmap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原生接口编译期报错 → 杜绝绕过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• profiler/池 看得到全部分配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703C"/>
                </a:solidFill>
                <a:latin typeface="Microsoft YaHei"/>
              </a:rPr>
              <a:t>全程同一套接口：Platform_ShmMap / _ShmMapOnPg / _ShmUnmap —— 业务零改动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  <a:latin typeface="Microsoft YaHei"/>
              </a:rPr>
              <a:t>2 · 路由：ShmMap 决策（含 NUMA）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52144"/>
            <a:ext cx="11247120" cy="25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1325880"/>
            <a:ext cx="4663440" cy="548640"/>
          </a:xfrm>
          <a:prstGeom prst="roundRect">
            <a:avLst/>
          </a:prstGeom>
          <a:solidFill>
            <a:srgbClr val="E9F1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ctr"/>
            <a:r>
              <a:rPr sz="1300" b="1">
                <a:solidFill>
                  <a:srgbClr val="1F3864"/>
                </a:solidFill>
                <a:latin typeface="Microsoft YaHei"/>
              </a:rPr>
              <a:t>业务调用  Platform_ShmMap(flags, name, size)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97880" y="1892807"/>
            <a:ext cx="384048" cy="274320"/>
          </a:xfrm>
          <a:prstGeom prst="downArrow">
            <a:avLst/>
          </a:prstGeom>
          <a:solidFill>
            <a:srgbClr val="B7C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2212848"/>
            <a:ext cx="7589520" cy="603504"/>
          </a:xfrm>
          <a:prstGeom prst="roundRect">
            <a:avLst/>
          </a:prstGeom>
          <a:solidFill>
            <a:srgbClr val="E9F1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ctr"/>
            <a:r>
              <a:rPr sz="1400" b="1">
                <a:solidFill>
                  <a:srgbClr val="1F3864"/>
                </a:solidFill>
                <a:latin typeface="Microsoft YaHei"/>
              </a:rPr>
              <a:t>路由判断：enable=false  /  size ≥ 阈值(2MB)  /  flags 非 VA-same(4,5) ?</a:t>
            </a:r>
          </a:p>
        </p:txBody>
      </p:sp>
      <p:sp>
        <p:nvSpPr>
          <p:cNvPr id="7" name="Down Arrow 6"/>
          <p:cNvSpPr/>
          <p:nvPr/>
        </p:nvSpPr>
        <p:spPr>
          <a:xfrm>
            <a:off x="3383280" y="2907792"/>
            <a:ext cx="384048" cy="457200"/>
          </a:xfrm>
          <a:prstGeom prst="downArrow">
            <a:avLst/>
          </a:prstGeom>
          <a:solidFill>
            <a:srgbClr val="B7C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971800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Microsoft YaHei"/>
              </a:rPr>
              <a:t>满足任一 → 透传</a:t>
            </a:r>
          </a:p>
        </p:txBody>
      </p:sp>
      <p:sp>
        <p:nvSpPr>
          <p:cNvPr id="9" name="Down Arrow 8"/>
          <p:cNvSpPr/>
          <p:nvPr/>
        </p:nvSpPr>
        <p:spPr>
          <a:xfrm>
            <a:off x="7955279" y="2907792"/>
            <a:ext cx="384048" cy="457200"/>
          </a:xfrm>
          <a:prstGeom prst="downArrow">
            <a:avLst/>
          </a:prstGeom>
          <a:solidFill>
            <a:srgbClr val="B7C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2971800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Microsoft YaHei"/>
              </a:rPr>
              <a:t>否则 → 进池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520440"/>
            <a:ext cx="3931920" cy="960120"/>
          </a:xfrm>
          <a:prstGeom prst="roundRect">
            <a:avLst/>
          </a:prstGeom>
          <a:solidFill>
            <a:srgbClr val="E7F4EA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73152"/>
          <a:lstStyle/>
          <a:p>
            <a:pPr algn="ctr"/>
            <a:r>
              <a:rPr sz="1400" b="1">
                <a:solidFill>
                  <a:srgbClr val="1F3864"/>
                </a:solidFill>
                <a:latin typeface="Microsoft YaHei"/>
              </a:rPr>
              <a:t>透传 OS</a:t>
            </a:r>
          </a:p>
          <a:p>
            <a:pPr algn="ctr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大块 / VA-differs / 关池</a:t>
            </a:r>
          </a:p>
          <a:p>
            <a:pPr algn="ctr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行为同现在，零风险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520440"/>
            <a:ext cx="4754880" cy="960120"/>
          </a:xfrm>
          <a:prstGeom prst="roundRect">
            <a:avLst/>
          </a:prstGeom>
          <a:solidFill>
            <a:srgbClr val="E9F1FC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73152"/>
          <a:lstStyle/>
          <a:p>
            <a:pPr algn="ctr"/>
            <a:r>
              <a:rPr sz="1400" b="1">
                <a:solidFill>
                  <a:srgbClr val="1F3864"/>
                </a:solidFill>
                <a:latin typeface="Microsoft YaHei"/>
              </a:rPr>
              <a:t>进池（小块 + VA-same）</a:t>
            </a:r>
          </a:p>
          <a:p>
            <a:pPr algn="ctr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命中 → attach（原子 refcount，无锁）</a:t>
            </a:r>
          </a:p>
          <a:p>
            <a:pPr algn="ctr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Microsoft YaHei"/>
              </a:rPr>
              <a:t>未命中 → 创建：切分策略 → 登记 → 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Microsoft YaHei"/>
              </a:rPr>
              <a:t>• 池 = 启动时向 OS 申请的大块共享内存；名字表 name→(块,偏移) 保证「同名拿同一块」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3864"/>
                </a:solidFill>
                <a:latin typeface="Microsoft YaHei"/>
              </a:rPr>
              <a:t>• NUMA（numa1 主、numa0 少）→ 按节点分池：OnPg 用 pgname 节点、非 OnPg 用调用方节点 → 就近访问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3864"/>
                </a:solidFill>
                <a:latin typeface="Microsoft YaHei"/>
              </a:rPr>
              <a:t>• 并发：attach=无锁；创建=TrySpinLock + 兜底透传（永不死锁）；数据读写=裸指针、零开销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  <a:latin typeface="Microsoft YaHei"/>
              </a:rPr>
              <a:t>3 · 三种候选切分策略 — 总览（评审后选定一个）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52144"/>
            <a:ext cx="11247120" cy="25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03120"/>
                <a:gridCol w="1371600"/>
                <a:gridCol w="1280160"/>
                <a:gridCol w="1645920"/>
                <a:gridCol w="1371600"/>
                <a:gridCol w="23774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切分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内部碎片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外部碎片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单独复用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最适合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固定大小槽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有(档间)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会复用、尺寸种类少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freelist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精确大小+合并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任意大小+频繁复用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bump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指针推进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O(1)/可无锁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init-once/长生命周期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6616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Microsoft YaHei"/>
              </a:rPr>
              <a:t>• 三者框架相同（路由/名字表/引用计数/锁/NUMA 一致），只差「从池里切一块」的方式 → 见后 3 页图解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E703C"/>
                </a:solidFill>
                <a:latin typeface="Microsoft YaHei"/>
              </a:rPr>
              <a:t>• 倾向：init-once（建好用到底）→ bump（精确·最快·最省）；运行期会复用槽 → slab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Microsoft YaHei"/>
              </a:rPr>
              <a:t>• freelist 仅在「任意大小 + 频繁释放复用」（通用 malloc 场景）才占优，对你们偏重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  <a:latin typeface="Microsoft YaHei"/>
              </a:rPr>
              <a:t>3a · 策略详解 ① slab（固定大小类）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52144"/>
            <a:ext cx="11247120" cy="25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Microsoft YaHei"/>
              </a:rPr>
              <a:t>池块按某「大小类」(如 64K) 切成等大的槽：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914400" cy="822960"/>
          </a:xfrm>
          <a:prstGeom prst="rect">
            <a:avLst/>
          </a:prstGeom>
          <a:solidFill>
            <a:srgbClr val="4F6DAE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占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828800"/>
            <a:ext cx="914400" cy="822960"/>
          </a:xfrm>
          <a:prstGeom prst="rect">
            <a:avLst/>
          </a:prstGeom>
          <a:solidFill>
            <a:srgbClr val="4F6DAE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占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914400" cy="822960"/>
          </a:xfrm>
          <a:prstGeom prst="rect">
            <a:avLst/>
          </a:prstGeom>
          <a:solidFill>
            <a:srgbClr val="4F6DAE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占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28800"/>
            <a:ext cx="914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222222"/>
                </a:solidFill>
                <a:latin typeface="Microsoft YaHei"/>
              </a:rPr>
              <a:t>空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914400" cy="822960"/>
          </a:xfrm>
          <a:prstGeom prst="rect">
            <a:avLst/>
          </a:prstGeom>
          <a:solidFill>
            <a:srgbClr val="4F6DAE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828800"/>
            <a:ext cx="914400" cy="822960"/>
          </a:xfrm>
          <a:prstGeom prst="rect">
            <a:avLst/>
          </a:prstGeom>
          <a:solidFill>
            <a:srgbClr val="4F6DAE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914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222222"/>
                </a:solidFill>
                <a:latin typeface="Microsoft YaHei"/>
              </a:rPr>
              <a:t>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828800"/>
            <a:ext cx="914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222222"/>
                </a:solidFill>
                <a:latin typeface="Microsoft YaHei"/>
              </a:rPr>
              <a:t>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Microsoft YaHei"/>
              </a:rPr>
              <a:t>每槽 = 64K（固定）   空闲链表  free_head → 3 → 6 → 7   （空闲槽内存「下一空闲槽号」）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分配 = 弹空闲链表头 (O(1))；释放 = 压回链表头 (O(1))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多档大小类(16K/32K/64K/128K/256K…)，请求向上取整到最小够用的档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内部碎片：90K→128K 槽，浪费 38K（分档越细越小）；外部碎片：无（同档槽等大，释放必可复用）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E703C"/>
                </a:solidFill>
                <a:latin typeface="Microsoft YaHei"/>
              </a:rPr>
              <a:t>• 对比：90K 进 128K 槽 vs OS 独占 2MB → 省约 16 倍；支持单独释放并复用槽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3864"/>
                </a:solidFill>
                <a:latin typeface="Microsoft YaHei"/>
              </a:rPr>
              <a:t>• 适合：运行期会释放并复用、尺寸种类有限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  <a:latin typeface="Microsoft YaHei"/>
              </a:rPr>
              <a:t>3b · 策略详解 ② freelist（经典空闲链表）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52144"/>
            <a:ext cx="11247120" cy="25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Microsoft YaHei"/>
              </a:rPr>
              <a:t>一整块按「精确大小」切，每块带块头(size, 占/空, 链接)：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74320" cy="822960"/>
          </a:xfrm>
          <a:prstGeom prst="rect">
            <a:avLst/>
          </a:prstGeom>
          <a:solidFill>
            <a:srgbClr val="9AA6B8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h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1463040" cy="822960"/>
          </a:xfrm>
          <a:prstGeom prst="rect">
            <a:avLst/>
          </a:prstGeom>
          <a:solidFill>
            <a:srgbClr val="4F6DAE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用 50K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828800"/>
            <a:ext cx="274320" cy="822960"/>
          </a:xfrm>
          <a:prstGeom prst="rect">
            <a:avLst/>
          </a:prstGeom>
          <a:solidFill>
            <a:srgbClr val="9AA6B8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h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828800"/>
            <a:ext cx="1005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222222"/>
                </a:solidFill>
                <a:latin typeface="Microsoft YaHei"/>
              </a:rPr>
              <a:t>空 30K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274320" cy="822960"/>
          </a:xfrm>
          <a:prstGeom prst="rect">
            <a:avLst/>
          </a:prstGeom>
          <a:solidFill>
            <a:srgbClr val="9AA6B8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2377440" cy="822960"/>
          </a:xfrm>
          <a:prstGeom prst="rect">
            <a:avLst/>
          </a:prstGeom>
          <a:solidFill>
            <a:srgbClr val="4F6DAE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用 100K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274320" cy="822960"/>
          </a:xfrm>
          <a:prstGeom prst="rect">
            <a:avLst/>
          </a:prstGeom>
          <a:solidFill>
            <a:srgbClr val="9AA6B8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828800"/>
            <a:ext cx="822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222222"/>
                </a:solidFill>
                <a:latin typeface="Microsoft YaHei"/>
              </a:rPr>
              <a:t>空 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Microsoft YaHei"/>
              </a:rPr>
              <a:t>空闲块链表  →  [空 30K]  →  [空 20K]  → 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分配 = 遍历空闲链表找够大者(first/best-fit) + 按需 split (O(n))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释放 = 标空 + 合并相邻空闲块(coalesce)，对抗外部碎片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无内部碎片（按精确大小给）；但有外部碎片（空洞凑不出大块）；每块有块头开销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0392B"/>
                </a:solidFill>
                <a:latin typeface="Microsoft YaHei"/>
              </a:rPr>
              <a:t>• 合并要碰相邻块 → 临界区长、并发不友好；查找 O(n) 慢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3864"/>
                </a:solidFill>
                <a:latin typeface="Microsoft YaHei"/>
              </a:rPr>
              <a:t>• 适合：任意大小 + 频繁释放/再分配（通用 malloc）；对你们(小块+init-once)偏重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  <a:latin typeface="Microsoft YaHei"/>
              </a:rPr>
              <a:t>3c · 策略详解 ③ bump（指针推进 / arena）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52144"/>
            <a:ext cx="11247120" cy="25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Microsoft YaHei"/>
              </a:rPr>
              <a:t>一大块 + 一个 next 偏移，从头顺序切精确大小：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188720" cy="822960"/>
          </a:xfrm>
          <a:prstGeom prst="rect">
            <a:avLst/>
          </a:prstGeom>
          <a:solidFill>
            <a:srgbClr val="4F6DAE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828800"/>
            <a:ext cx="914400" cy="822960"/>
          </a:xfrm>
          <a:prstGeom prst="rect">
            <a:avLst/>
          </a:prstGeom>
          <a:solidFill>
            <a:srgbClr val="4F6DAE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828800"/>
            <a:ext cx="1463040" cy="822960"/>
          </a:xfrm>
          <a:prstGeom prst="rect">
            <a:avLst/>
          </a:prstGeom>
          <a:solidFill>
            <a:srgbClr val="4F6DAE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FFFFFF"/>
                </a:solidFill>
                <a:latin typeface="Microsoft YaHei"/>
              </a:rPr>
              <a:t>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>
                <a:solidFill>
                  <a:srgbClr val="222222"/>
                </a:solidFill>
                <a:latin typeface="Microsoft YaHei"/>
              </a:rPr>
              <a:t>空闲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2272" y="1691640"/>
            <a:ext cx="36576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788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Microsoft YaHe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分配：off = 对齐(next)；next = off + size —— O(1)，可做成对 next 的原子 fetch-add（无锁）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精确大小（无内部碎片）；无外部碎片（不单独释放→不产生空洞）；元数据极小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唯一代价：不能单独回收某块（整块收尾回收）—— 但 init-once 本就不单独回收，代价≈0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引用计数仍记；减到 0 也不立刻回收，收尾统一释放整块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E703C"/>
                </a:solidFill>
                <a:latin typeface="Microsoft YaHei"/>
              </a:rPr>
              <a:t>• 适合：init-once / 长生命周期 ←（你们的场景）；三者中最省、最快、最简单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  <a:latin typeface="Microsoft YaHei"/>
              </a:rPr>
              <a:t>4 · 配置项设计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52144"/>
            <a:ext cx="11247120" cy="25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F3864"/>
                </a:solidFill>
                <a:latin typeface="Microsoft YaHei"/>
              </a:rPr>
              <a:t>• enable —— 总开关（Debug / 上线都可用）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Microsoft YaHei"/>
              </a:rPr>
              <a:t>– true=启用内存池；false=纯透传（等价阶段一）→ 一键回滚 / 灰度，零风险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F3864"/>
                </a:solidFill>
                <a:latin typeface="Microsoft YaHei"/>
              </a:rPr>
              <a:t>• pool_size —— 内存池总大小（核心可配项）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Microsoft YaHei"/>
              </a:rPr>
              <a:t>– 架构最开始就向 OS 申请这一大块共享内存做池；大小按实测峰值占用设、留余量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Microsoft YaHei"/>
              </a:rPr>
              <a:t>– 可按 NUMA 节点分配（numa1 主、numa0 少）；用满则兜底透传（或按需增长）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F3864"/>
                </a:solidFill>
                <a:latin typeface="Microsoft YaHei"/>
              </a:rPr>
              <a:t>• threshold —— 进池阈值（默认 2MB）：≥ 此值直接透传 OS（大块不进池）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F3864"/>
                </a:solidFill>
                <a:latin typeface="Microsoft YaHei"/>
              </a:rPr>
              <a:t>• 加载：CP 启动读配置 → 写入元数据共享内存 → DP attach（不读文件）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F3F5F9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73152"/>
          <a:lstStyle/>
          <a:p>
            <a:pPr algn="ctr"/>
            <a:r>
              <a:rPr sz="1300" b="1">
                <a:solidFill>
                  <a:srgbClr val="1F3864"/>
                </a:solidFill>
                <a:latin typeface="Microsoft YaHei"/>
              </a:rPr>
              <a:t>极简配置示例（INI）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Consolas"/>
              </a:rPr>
              <a:t>enable     = true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Consolas"/>
              </a:rPr>
              <a:t>pool_size  = 0x80000000      ; 2GB —— 启动向 OS 申请的池总量（可配）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Consolas"/>
              </a:rPr>
              <a:t>threshold  = 0x200000        ; ≥2MB 透传 OS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Consolas"/>
              </a:rPr>
              <a:t>; numa1 = 0x60000000   numa0 = 0x20000000   ; 可按节点分配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  <a:latin typeface="Microsoft YaHei"/>
              </a:rPr>
              <a:t>5 · 评审注意事项 + 待拍板项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52144"/>
            <a:ext cx="11247120" cy="25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C0392B"/>
                </a:solidFill>
                <a:latin typeface="Microsoft YaHei"/>
              </a:rPr>
              <a:t>• 不死锁但会降级：拿不到锁→该次透传（系统照跑）；不依赖锁崩溃健壮；需监控长期降级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0392B"/>
                </a:solidFill>
                <a:latin typeface="Microsoft YaHei"/>
              </a:rPr>
              <a:t>• 崩溃/引用数泄漏：半截创建最多泄漏一个槽；崩溃未 unmap→refcount 泄漏；孤儿回收策略待定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同块多区域隔离：attach 映射整块→可见同块他人数据（前提同平台互信）——池化固有性质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VA 限定：只池化 VA-same(4/5)；flags 4 与 5 分池；VA-differs/process-shared 透传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• 验证与回滚：复用 analyze_profile / crosscheck_os_log 验证占用下降；enable=false 灰度回滚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E703C"/>
                </a:solidFill>
                <a:latin typeface="Microsoft YaHei"/>
              </a:rPr>
              <a:t>• 待拍板①：OS 对 shm 段数量有无上限 / 每段固定开销？（影响是否纳入大块、阈值大小）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E703C"/>
                </a:solidFill>
                <a:latin typeface="Microsoft YaHei"/>
              </a:rPr>
              <a:t>• 待拍板②：切分策略选哪个 + pool_size 初值 + 各上限取值 + 崩溃恢复要求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